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" name="Image 0" descr="/tmp/cres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860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95728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HANGEUL QUEST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3649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for the Real World</a:t>
            </a:r>
            <a:endParaRPr lang="en-US" sz="2200" dirty="0"/>
          </a:p>
        </p:txBody>
      </p:sp>
      <p:pic>
        <p:nvPicPr>
          <p:cNvPr id="6" name="Image 1" descr="/tmp/logo_ki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005072"/>
            <a:ext cx="384048" cy="3840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901952" y="4005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901952" y="40050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Kids</a:t>
            </a:r>
            <a:endParaRPr lang="en-US" sz="1400" dirty="0"/>
          </a:p>
        </p:txBody>
      </p:sp>
      <p:pic>
        <p:nvPicPr>
          <p:cNvPr id="9" name="Image 2" descr="/tmp/logo_h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005072"/>
            <a:ext cx="384048" cy="3840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187952" y="400507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187952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 Quest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199632" y="400507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99632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hangeulquest.com  ·  hangeulquestkids.com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201168" cy="201168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another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app?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Korean tools feel like textbooks — vocabulary lists, grammar drills, and sentences you'd never actually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457200"/>
            <a:ext cx="4389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5943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0" y="5852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97840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without situations doesn't stick.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4389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1031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12080" y="20939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Textbook-Only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4871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tune out when it feels like homework.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3474720"/>
            <a:ext cx="4389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36118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36027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Goal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99592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to real proficiency milestones.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Learned Through Life, Not Through Lists.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41732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41732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499616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" y="307238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real-life episode sets the stage — market, kitchen, school, park.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41732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1499616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23160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96312" y="307238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emerge naturally from the story you just watched.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141732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1417320"/>
            <a:ext cx="1965960" cy="64008"/>
          </a:xfrm>
          <a:prstGeom prst="rect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1499616"/>
            <a:ext cx="594360" cy="594360"/>
          </a:xfrm>
          <a:prstGeom prst="ellipse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0288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81728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07238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plain English, tied to what you just heard.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57416" y="1417320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417320"/>
            <a:ext cx="196596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1499616"/>
            <a:ext cx="594360" cy="5943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57416" y="21762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48856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0568" y="307238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quizzes, sentence building — not rote drills.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913632"/>
            <a:ext cx="8631936" cy="9875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13632"/>
            <a:ext cx="109728" cy="98755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977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Signature Approach: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Exposure to Both Speech Registers — From Day 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34840" y="395020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dialogs use casual teen speech (반말).  Real Life sections model adult formal speech (존댓말).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hear — and feel — the difference naturally, in context, not from a rule chart.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One Goal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Korean fluency — at every 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3931920" cy="356616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3931920" cy="566928"/>
          </a:xfrm>
          <a:prstGeom prst="rect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pic>
        <p:nvPicPr>
          <p:cNvPr id="6" name="Image 0" descr="/tmp/logo_ki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75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26187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Kids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👦👧  Ages 5–12, elementary level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Game-based micro-lessons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Alphabet → grammar, step by step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557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Stars, rewards &amp; adventure map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0873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hangeulquestkids.com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37760" y="1261872"/>
            <a:ext cx="3931920" cy="35661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1261872"/>
            <a:ext cx="393192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5" name="Image 1" descr="/tmp/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0759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9552" y="126187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 Quest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166360" y="1965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🧑‍🎓  Teens &amp; adults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166360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Scene-First episodes (drama-style)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16636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 Culture + language, always together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166360" y="3557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TOPIK-aligned, structured progression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166360" y="40873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hangeulquest.com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in Your Pocket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daily sessions that build real habits — no app store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212848"/>
            <a:ext cx="50292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311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Installs from browser — no app store (PWA)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50292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614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HQ Kids: adventure map + block-building games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73552"/>
            <a:ext cx="50292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⭕  HQ: episode replay + SRS flashcard 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03904"/>
            <a:ext cx="50292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221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Daily streak + star rewards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334256"/>
            <a:ext cx="50292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525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Progress syncs with full web platform</a:t>
            </a:r>
            <a:endParaRPr lang="en-US" sz="1200" dirty="0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00" name="PhoneMocku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402" y="171750"/>
            <a:ext cx="2327597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to Real Proficiency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curriculum maps directly to TOPIK — the international Korean proficiency standard.</a:t>
            </a:r>
            <a:endParaRPr lang="en-US" sz="1150" dirty="0"/>
          </a:p>
        </p:txBody>
      </p:sp>
      <p:pic>
        <p:nvPicPr>
          <p:cNvPr id="4" name="Image 0" descr="/tmp/logo_ki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755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98755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Kids</a:t>
            </a:r>
            <a:endParaRPr lang="en-US" sz="1350" dirty="0"/>
          </a:p>
        </p:txBody>
      </p:sp>
      <p:pic>
        <p:nvPicPr>
          <p:cNvPr id="6" name="Image 1" descr="/tmp/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87552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5232" y="98755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 Quest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4206240" cy="813816"/>
          </a:xfrm>
          <a:prstGeom prst="rect">
            <a:avLst/>
          </a:prstGeom>
          <a:solidFill>
            <a:srgbClr val="E0F7F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417320"/>
            <a:ext cx="182880" cy="813816"/>
          </a:xfrm>
          <a:prstGeom prst="rect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4813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98448" y="14813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&amp; Phonics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1856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Consonants, vowels, syllable blocks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4320" y="2286000"/>
            <a:ext cx="4206240" cy="813816"/>
          </a:xfrm>
          <a:prstGeom prst="rect">
            <a:avLst/>
          </a:prstGeom>
          <a:solidFill>
            <a:srgbClr val="E0F7F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286000"/>
            <a:ext cx="182880" cy="8138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23500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98448" y="235000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Foundations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objects, locations, verbs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3154680"/>
            <a:ext cx="4206240" cy="813816"/>
          </a:xfrm>
          <a:prstGeom prst="rect">
            <a:avLst/>
          </a:prstGeom>
          <a:solidFill>
            <a:srgbClr val="E0F7F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154680"/>
            <a:ext cx="182880" cy="8138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21868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298448" y="321868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Building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" y="35935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Past/future, negation, questions · A1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4023360"/>
            <a:ext cx="4206240" cy="813816"/>
          </a:xfrm>
          <a:prstGeom prst="rect">
            <a:avLst/>
          </a:prstGeom>
          <a:solidFill>
            <a:srgbClr val="E0F7F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4023360"/>
            <a:ext cx="182880" cy="81381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40873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L4–L6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298448" y="408736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Prep &amp; Pass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44622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1급 preparation → pass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526280" y="2788920"/>
            <a:ext cx="91440" cy="22402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15968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93D"/>
                </a:solidFill>
              </a:rPr>
              <a:t>↔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754880" y="1417320"/>
            <a:ext cx="4160520" cy="1115568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54880" y="1417320"/>
            <a:ext cx="18288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150876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650992" y="15087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Korean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029200" y="192938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 · TOPIK 1급 (A1–A2)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754880" y="2587752"/>
            <a:ext cx="4160520" cy="1115568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54880" y="2587752"/>
            <a:ext cx="182880" cy="1115568"/>
          </a:xfrm>
          <a:prstGeom prst="rect">
            <a:avLst/>
          </a:prstGeom>
          <a:solidFill>
            <a:srgbClr val="3B5C8A"/>
          </a:solidFill>
          <a:ln w="12700">
            <a:solidFill>
              <a:srgbClr val="3B5C8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0" y="267919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650992" y="26791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Fluency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29200" y="309981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expressions · TOPIK 2급 (A2–B1)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754880" y="3758184"/>
            <a:ext cx="4160520" cy="1115568"/>
          </a:xfrm>
          <a:prstGeom prst="rect">
            <a:avLst/>
          </a:prstGeom>
          <a:solidFill>
            <a:srgbClr val="E8EEF4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54880" y="3758184"/>
            <a:ext cx="182880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29200" y="384962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L3+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650992" y="38496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Expression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029200" y="427024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speech · TOPIK 3–4급 (B1–B2)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3310128" y="4736592"/>
            <a:ext cx="2523744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10128" y="473659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Aligned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Every Lesson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56032" y="822960"/>
            <a:ext cx="64008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Episodes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real-life stories drive every unit — markets, kitchens, parks.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822960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86784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Audio (TTS)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28416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Typecast voice on every line of dialogue.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822960"/>
            <a:ext cx="64008" cy="1920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94576" y="1005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Cards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+ example + plain English — never just a rule.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07792"/>
            <a:ext cx="64008" cy="19202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78992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Speech Registers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0624" y="37764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dialogs: casual teen speech. Real Life: adult formal Korean. Both, from day one.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29077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2907792"/>
            <a:ext cx="64008" cy="1920240"/>
          </a:xfrm>
          <a:prstGeom prst="rect">
            <a:avLst/>
          </a:prstGeom>
          <a:solidFill>
            <a:srgbClr val="3DBDB5"/>
          </a:solidFill>
          <a:ln w="12700">
            <a:solidFill>
              <a:srgbClr val="3DBD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🇰🇷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986784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Built In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28416" y="37764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customs, food, etiquette — woven into every episode.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71616" y="290779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71616" y="2907792"/>
            <a:ext cx="64008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072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94576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Practice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36208" y="37764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tap, fill-in, sentence building — feels like play.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pic>
        <p:nvPicPr>
          <p:cNvPr id="4" name="Image 0" descr="/tmp/cres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972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89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81051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by a Korean teacher for her grandchildren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to every family."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3127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· · 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349300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 Any child, anywhere can fall in love with Korean.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88720" y="40233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 Both formal and informal speech — heard naturally, side by side, from the very first lesson.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455371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 A clear path from first letter to real fluency — TOPIK and beyond.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Korean Journey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3566160" cy="2578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98448"/>
            <a:ext cx="3566160" cy="914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 (Ages 5–12)</a:t>
            </a:r>
            <a:endParaRPr lang="en-US" sz="1150" dirty="0"/>
          </a:p>
        </p:txBody>
      </p:sp>
      <p:pic>
        <p:nvPicPr>
          <p:cNvPr id="6" name="Image 0" descr="/tmp/logo_ki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0195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HQ Kids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633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hangeulquestkids.com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Game-based · TOPIK-aligned · Free to try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0" y="1298448"/>
            <a:ext cx="3566160" cy="2578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1298448"/>
            <a:ext cx="3566160" cy="9144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Teens &amp; Adults</a:t>
            </a:r>
            <a:endParaRPr lang="en-US" sz="1150" dirty="0"/>
          </a:p>
        </p:txBody>
      </p:sp>
      <p:pic>
        <p:nvPicPr>
          <p:cNvPr id="13" name="Image 1" descr="/tmp/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0195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Hangeul Quest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303520" y="2633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hangeulquest.com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Scene-First · TOPIK-aligned · Free to try</a:t>
            </a:r>
            <a:endParaRPr lang="en-US" sz="1000" dirty="0"/>
          </a:p>
        </p:txBody>
      </p:sp>
      <p:pic>
        <p:nvPicPr>
          <p:cNvPr id="17" name="Image 2" descr="/tmp/crest_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822192"/>
            <a:ext cx="804672" cy="8046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0" y="4224528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B3A5C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200400" y="4224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 Available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 required  ·  Learn at your own pace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2026-06-16T17:24:14Z</dcterms:created>
  <dcterms:modified xsi:type="dcterms:W3CDTF">2026-06-16T17:24:14Z</dcterms:modified>
</cp:coreProperties>
</file>