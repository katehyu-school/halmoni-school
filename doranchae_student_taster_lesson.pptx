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안녕!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FD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learn some Korean.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40-minute taste of Korean language &amp; culture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784080" y="2148840"/>
            <a:ext cx="1737360" cy="1737360"/>
          </a:xfrm>
          <a:prstGeom prst="ellipse">
            <a:avLst/>
          </a:prstGeom>
          <a:solidFill>
            <a:srgbClr val="12615B"/>
          </a:solidFill>
          <a:ln/>
        </p:spPr>
      </p:sp>
      <p:pic>
        <p:nvPicPr>
          <p:cNvPr id="6" name="Image 0" descr="/sessions/pensive-beautiful-einstein/mnt/outputs/pptx_work2/icons/peac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310" y="2392070"/>
            <a:ext cx="1250899" cy="12508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 up if...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7" name="Image 0" descr="/sessions/pensive-beautiful-einstein/mnt/outputs/pptx_work2/icon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2401214"/>
            <a:ext cx="592531" cy="5925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86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watched a K-drama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822960" cy="82296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10" name="Image 1" descr="/sessions/pensive-beautiful-einstein/mnt/outputs/pptx_work2/icons/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" y="3544214"/>
            <a:ext cx="592531" cy="5925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listened to K-pop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13" name="Image 2" descr="/sessions/pensive-beautiful-einstein/mnt/outputs/pptx_work2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4687214"/>
            <a:ext cx="592531" cy="5925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572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eaten Korean food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HANGUL IN 60 SECONDS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alphabet built to be learned fast.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is written in Hangul (한글) — invented in 1443, on purpose, to be simple.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just a few shapes stacked together — like building with letter-blocks.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reading your own name in it before this slide's neighbors are done talking.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0" y="1920240"/>
            <a:ext cx="3749040" cy="3657600"/>
          </a:xfrm>
          <a:prstGeom prst="roundRect">
            <a:avLst>
              <a:gd name="adj" fmla="val 3750"/>
            </a:avLst>
          </a:prstGeom>
          <a:solidFill>
            <a:srgbClr val="FFE1D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0116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7680960" y="3657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글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NAME-WRITING TOOLKIT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to spell your name.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자음 · Consonants (14)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83319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11" name="Text 9"/>
          <p:cNvSpPr/>
          <p:nvPr/>
        </p:nvSpPr>
        <p:spPr>
          <a:xfrm>
            <a:off x="1583319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83319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43678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14" name="Text 12"/>
          <p:cNvSpPr/>
          <p:nvPr/>
        </p:nvSpPr>
        <p:spPr>
          <a:xfrm>
            <a:off x="2343678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43678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04036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04036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04036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64395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20" name="Text 18"/>
          <p:cNvSpPr/>
          <p:nvPr/>
        </p:nvSpPr>
        <p:spPr>
          <a:xfrm>
            <a:off x="3864395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64395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24754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23" name="Text 21"/>
          <p:cNvSpPr/>
          <p:nvPr/>
        </p:nvSpPr>
        <p:spPr>
          <a:xfrm>
            <a:off x="4624754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ㅂ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24754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85113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26" name="Text 24"/>
          <p:cNvSpPr/>
          <p:nvPr/>
        </p:nvSpPr>
        <p:spPr>
          <a:xfrm>
            <a:off x="5385113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85113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45471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29" name="Text 27"/>
          <p:cNvSpPr/>
          <p:nvPr/>
        </p:nvSpPr>
        <p:spPr>
          <a:xfrm>
            <a:off x="6145471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ㅇ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145471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ng*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5830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6905830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ㅈ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5830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66189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35" name="Text 33"/>
          <p:cNvSpPr/>
          <p:nvPr/>
        </p:nvSpPr>
        <p:spPr>
          <a:xfrm>
            <a:off x="7666189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66189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426548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38" name="Text 36"/>
          <p:cNvSpPr/>
          <p:nvPr/>
        </p:nvSpPr>
        <p:spPr>
          <a:xfrm>
            <a:off x="8426548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ㅋ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426548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186906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41" name="Text 39"/>
          <p:cNvSpPr/>
          <p:nvPr/>
        </p:nvSpPr>
        <p:spPr>
          <a:xfrm>
            <a:off x="9186906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ㅌ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186906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947265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9947265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ㅍ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947265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707624" y="1874520"/>
            <a:ext cx="658368" cy="777240"/>
          </a:xfrm>
          <a:prstGeom prst="roundRect">
            <a:avLst>
              <a:gd name="adj" fmla="val 9722"/>
            </a:avLst>
          </a:prstGeom>
          <a:solidFill>
            <a:srgbClr val="D8F2ED"/>
          </a:solidFill>
          <a:ln/>
        </p:spPr>
      </p:sp>
      <p:sp>
        <p:nvSpPr>
          <p:cNvPr id="47" name="Text 45"/>
          <p:cNvSpPr/>
          <p:nvPr/>
        </p:nvSpPr>
        <p:spPr>
          <a:xfrm>
            <a:off x="10707624" y="1921154"/>
            <a:ext cx="658368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ㅎ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0707624" y="23719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" y="2761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모음 · Vowels (10)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22960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ㅏ</a:t>
            </a:r>
            <a:endParaRPr lang="en-US" sz="2700" dirty="0"/>
          </a:p>
        </p:txBody>
      </p:sp>
      <p:sp>
        <p:nvSpPr>
          <p:cNvPr id="52" name="Text 50"/>
          <p:cNvSpPr/>
          <p:nvPr/>
        </p:nvSpPr>
        <p:spPr>
          <a:xfrm>
            <a:off x="822960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90776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54" name="Text 52"/>
          <p:cNvSpPr/>
          <p:nvPr/>
        </p:nvSpPr>
        <p:spPr>
          <a:xfrm>
            <a:off x="1890776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ㅑ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1890776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958592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57" name="Text 55"/>
          <p:cNvSpPr/>
          <p:nvPr/>
        </p:nvSpPr>
        <p:spPr>
          <a:xfrm>
            <a:off x="2958592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ㅓ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2958592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26408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60" name="Text 58"/>
          <p:cNvSpPr/>
          <p:nvPr/>
        </p:nvSpPr>
        <p:spPr>
          <a:xfrm>
            <a:off x="4026408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ㅕ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4026408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94224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63" name="Text 61"/>
          <p:cNvSpPr/>
          <p:nvPr/>
        </p:nvSpPr>
        <p:spPr>
          <a:xfrm>
            <a:off x="5094224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ㅗ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094224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62040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66" name="Text 64"/>
          <p:cNvSpPr/>
          <p:nvPr/>
        </p:nvSpPr>
        <p:spPr>
          <a:xfrm>
            <a:off x="6162040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ㅛ</a:t>
            </a:r>
            <a:endParaRPr lang="en-US" sz="2700" dirty="0"/>
          </a:p>
        </p:txBody>
      </p:sp>
      <p:sp>
        <p:nvSpPr>
          <p:cNvPr id="67" name="Text 65"/>
          <p:cNvSpPr/>
          <p:nvPr/>
        </p:nvSpPr>
        <p:spPr>
          <a:xfrm>
            <a:off x="6162040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229856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69" name="Text 67"/>
          <p:cNvSpPr/>
          <p:nvPr/>
        </p:nvSpPr>
        <p:spPr>
          <a:xfrm>
            <a:off x="7229856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ㅜ</a:t>
            </a:r>
            <a:endParaRPr lang="en-US" sz="2700" dirty="0"/>
          </a:p>
        </p:txBody>
      </p:sp>
      <p:sp>
        <p:nvSpPr>
          <p:cNvPr id="70" name="Text 68"/>
          <p:cNvSpPr/>
          <p:nvPr/>
        </p:nvSpPr>
        <p:spPr>
          <a:xfrm>
            <a:off x="7229856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297672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72" name="Text 70"/>
          <p:cNvSpPr/>
          <p:nvPr/>
        </p:nvSpPr>
        <p:spPr>
          <a:xfrm>
            <a:off x="8297672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ㅠ</a:t>
            </a:r>
            <a:endParaRPr lang="en-US" sz="2700" dirty="0"/>
          </a:p>
        </p:txBody>
      </p:sp>
      <p:sp>
        <p:nvSpPr>
          <p:cNvPr id="73" name="Text 71"/>
          <p:cNvSpPr/>
          <p:nvPr/>
        </p:nvSpPr>
        <p:spPr>
          <a:xfrm>
            <a:off x="8297672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365488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75" name="Text 73"/>
          <p:cNvSpPr/>
          <p:nvPr/>
        </p:nvSpPr>
        <p:spPr>
          <a:xfrm>
            <a:off x="9365488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ㅡ</a:t>
            </a:r>
            <a:endParaRPr lang="en-US" sz="2700" dirty="0"/>
          </a:p>
        </p:txBody>
      </p:sp>
      <p:sp>
        <p:nvSpPr>
          <p:cNvPr id="76" name="Text 74"/>
          <p:cNvSpPr/>
          <p:nvPr/>
        </p:nvSpPr>
        <p:spPr>
          <a:xfrm>
            <a:off x="9365488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433304" y="3035808"/>
            <a:ext cx="932688" cy="868680"/>
          </a:xfrm>
          <a:prstGeom prst="roundRect">
            <a:avLst>
              <a:gd name="adj" fmla="val 7368"/>
            </a:avLst>
          </a:prstGeom>
          <a:solidFill>
            <a:srgbClr val="FFE1DE"/>
          </a:solidFill>
          <a:ln/>
        </p:spPr>
      </p:sp>
      <p:sp>
        <p:nvSpPr>
          <p:cNvPr id="78" name="Text 76"/>
          <p:cNvSpPr/>
          <p:nvPr/>
        </p:nvSpPr>
        <p:spPr>
          <a:xfrm>
            <a:off x="10433304" y="3087929"/>
            <a:ext cx="932688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ㅣ</a:t>
            </a:r>
            <a:endParaRPr lang="en-US" sz="2700" dirty="0"/>
          </a:p>
        </p:txBody>
      </p:sp>
      <p:sp>
        <p:nvSpPr>
          <p:cNvPr id="79" name="Text 77"/>
          <p:cNvSpPr/>
          <p:nvPr/>
        </p:nvSpPr>
        <p:spPr>
          <a:xfrm>
            <a:off x="10433304" y="3591763"/>
            <a:ext cx="93268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2960" y="40416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복합모음 · Compound Vowels (11) — for sounds like “ae” and “e”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822960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82" name="Text 80"/>
          <p:cNvSpPr/>
          <p:nvPr/>
        </p:nvSpPr>
        <p:spPr>
          <a:xfrm>
            <a:off x="822960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ㅐ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822960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796796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85" name="Text 83"/>
          <p:cNvSpPr/>
          <p:nvPr/>
        </p:nvSpPr>
        <p:spPr>
          <a:xfrm>
            <a:off x="1796796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ㅔ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1796796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770632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88" name="Text 86"/>
          <p:cNvSpPr/>
          <p:nvPr/>
        </p:nvSpPr>
        <p:spPr>
          <a:xfrm>
            <a:off x="2770632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ㅒ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2770632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744468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91" name="Text 89"/>
          <p:cNvSpPr/>
          <p:nvPr/>
        </p:nvSpPr>
        <p:spPr>
          <a:xfrm>
            <a:off x="3744468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ㅖ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3744468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18304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94" name="Text 92"/>
          <p:cNvSpPr/>
          <p:nvPr/>
        </p:nvSpPr>
        <p:spPr>
          <a:xfrm>
            <a:off x="4718304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ㅘ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4718304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692140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97" name="Text 95"/>
          <p:cNvSpPr/>
          <p:nvPr/>
        </p:nvSpPr>
        <p:spPr>
          <a:xfrm>
            <a:off x="5692140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ㅙ</a:t>
            </a:r>
            <a:endParaRPr lang="en-US" sz="2000" dirty="0"/>
          </a:p>
        </p:txBody>
      </p:sp>
      <p:sp>
        <p:nvSpPr>
          <p:cNvPr id="98" name="Text 96"/>
          <p:cNvSpPr/>
          <p:nvPr/>
        </p:nvSpPr>
        <p:spPr>
          <a:xfrm>
            <a:off x="5692140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665976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100" name="Text 98"/>
          <p:cNvSpPr/>
          <p:nvPr/>
        </p:nvSpPr>
        <p:spPr>
          <a:xfrm>
            <a:off x="6665976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ㅚ</a:t>
            </a:r>
            <a:endParaRPr lang="en-US" sz="2000" dirty="0"/>
          </a:p>
        </p:txBody>
      </p:sp>
      <p:sp>
        <p:nvSpPr>
          <p:cNvPr id="101" name="Text 99"/>
          <p:cNvSpPr/>
          <p:nvPr/>
        </p:nvSpPr>
        <p:spPr>
          <a:xfrm>
            <a:off x="6665976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639812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103" name="Text 101"/>
          <p:cNvSpPr/>
          <p:nvPr/>
        </p:nvSpPr>
        <p:spPr>
          <a:xfrm>
            <a:off x="7639812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ㅝ</a:t>
            </a:r>
            <a:endParaRPr lang="en-US" sz="2000" dirty="0"/>
          </a:p>
        </p:txBody>
      </p:sp>
      <p:sp>
        <p:nvSpPr>
          <p:cNvPr id="104" name="Text 102"/>
          <p:cNvSpPr/>
          <p:nvPr/>
        </p:nvSpPr>
        <p:spPr>
          <a:xfrm>
            <a:off x="7639812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613648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106" name="Text 104"/>
          <p:cNvSpPr/>
          <p:nvPr/>
        </p:nvSpPr>
        <p:spPr>
          <a:xfrm>
            <a:off x="8613648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ㅞ</a:t>
            </a:r>
            <a:endParaRPr lang="en-US" sz="2000" dirty="0"/>
          </a:p>
        </p:txBody>
      </p:sp>
      <p:sp>
        <p:nvSpPr>
          <p:cNvPr id="107" name="Text 105"/>
          <p:cNvSpPr/>
          <p:nvPr/>
        </p:nvSpPr>
        <p:spPr>
          <a:xfrm>
            <a:off x="8613648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587484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109" name="Text 107"/>
          <p:cNvSpPr/>
          <p:nvPr/>
        </p:nvSpPr>
        <p:spPr>
          <a:xfrm>
            <a:off x="9587484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ㅟ</a:t>
            </a:r>
            <a:endParaRPr lang="en-US" sz="2000" dirty="0"/>
          </a:p>
        </p:txBody>
      </p:sp>
      <p:sp>
        <p:nvSpPr>
          <p:cNvPr id="110" name="Text 108"/>
          <p:cNvSpPr/>
          <p:nvPr/>
        </p:nvSpPr>
        <p:spPr>
          <a:xfrm>
            <a:off x="9587484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561320" y="4315968"/>
            <a:ext cx="804672" cy="77724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561320" y="4362602"/>
            <a:ext cx="804672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ㅢ</a:t>
            </a:r>
            <a:endParaRPr lang="en-US" sz="2000" dirty="0"/>
          </a:p>
        </p:txBody>
      </p:sp>
      <p:sp>
        <p:nvSpPr>
          <p:cNvPr id="113" name="Text 111"/>
          <p:cNvSpPr/>
          <p:nvPr/>
        </p:nvSpPr>
        <p:spPr>
          <a:xfrm>
            <a:off x="10561320" y="4813402"/>
            <a:ext cx="80467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22960" y="52303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ㅇ is silent at the start of a syllable, and sounds like "ng" at the end.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822960" y="55046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tense consonants (ㄲㄸㅃㅆㅉ) on purpose — Korean spells foreign name sounds with the plain ones above instead.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name in Hangul.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0" y="960120"/>
            <a:ext cx="1463040" cy="146304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7" name="Image 0" descr="/sessions/pensive-beautiful-einstein/mnt/outputs/pptx_work2/icons/pe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6026" y="1164946"/>
            <a:ext cx="1053389" cy="105338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22402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E1DE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377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737360" y="2377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your worksheet — same sound chart you just saw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0" y="22402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E1DE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377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315200" y="2377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your name into syllable sounds (Sam → 새 + ㅁ)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E1DE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7947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737360" y="3794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sound to its Hangul block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0" y="36576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E1DE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7947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315200" y="3794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big — this is yours to keep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YOU CAN USE TODAY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greetings.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E1D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안녕하세요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an-nyeong-ha-se-yo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2628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E1D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0916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gam-sa-ham-ni-da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반가워요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1248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ban-ga-wo-yo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PRACTICE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to a neighbor and try it out.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011680" cy="201168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7" name="Image 0" descr="/sessions/pensive-beautiful-einstein/mnt/outputs/pptx_work2/icons/fri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476195"/>
            <a:ext cx="1448410" cy="1448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2331720"/>
            <a:ext cx="8138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Say 안녕하세요 (hello) and bow slightly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Introduce yourself by the name you just wrote</a:t>
            </a:r>
            <a:endParaRPr lang="en-US" sz="1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Say 반가워요 (nice to meet you)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HEARD THIS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Korean you already know.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777240" cy="77724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7" name="Image 0" descr="/sessions/pensive-beautiful-einstein/mnt/outputs/pptx_work2/icons/fil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394814"/>
            <a:ext cx="559613" cy="5596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860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대박  </a:t>
            </a:r>
            <a:pPr algn="l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(dae-bak)  —  </a:t>
            </a:r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way!" / "Awesome" — all over K-dramas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777240" cy="77724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10" name="Image 1" descr="/sessions/pensive-beautiful-einstein/mnt/outputs/pptx_work2/icons/fil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4" y="3446374"/>
            <a:ext cx="559613" cy="5596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3375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오빠  </a:t>
            </a:r>
            <a:pPr algn="l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(oppa)  —  </a:t>
            </a:r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girls call an older guy friend — a K-pop staple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13" name="Image 2" descr="/sessions/pensive-beautiful-einstein/mnt/outputs/pptx_work2/icons/film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497934"/>
            <a:ext cx="559613" cy="5596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3891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화이팅  </a:t>
            </a:r>
            <a:pPr algn="l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(hwai-ting)  —  </a:t>
            </a:r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got this!" — Korea's all-purpose cheer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515600" y="502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E1D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502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 round!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shout the right answer wins bragging rights.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0" y="914400"/>
            <a:ext cx="1554480" cy="1554480"/>
          </a:xfrm>
          <a:prstGeom prst="ellipse">
            <a:avLst/>
          </a:prstGeom>
          <a:solidFill>
            <a:srgbClr val="FFE1DE"/>
          </a:solidFill>
          <a:ln/>
        </p:spPr>
      </p:sp>
      <p:pic>
        <p:nvPicPr>
          <p:cNvPr id="8" name="Image 0" descr="/sessions/pensive-beautiful-einstein/mnt/outputs/pptx_work2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827" y="1132027"/>
            <a:ext cx="1119226" cy="111922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5603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FE1D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5603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28800" y="2560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say "hello"?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" y="352044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FE1DE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5204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828800" y="35204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say "thank you"?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" y="44805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FE1DE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4805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828800" y="44805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대박 mean?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more?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this. It's free — no card, no account required.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· doranchae.com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0175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pic>
        <p:nvPicPr>
          <p:cNvPr id="6" name="Image 0" descr="/sessions/pensive-beautiful-einstein/mnt/outputs/doranchae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91640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having me — 고마워요!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도란채 Doranchae  ·  doranchae.com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2026-08-13T13:06:17Z</dcterms:created>
  <dcterms:modified xsi:type="dcterms:W3CDTF">2026-08-13T13:06:17Z</dcterms:modified>
</cp:coreProperties>
</file>